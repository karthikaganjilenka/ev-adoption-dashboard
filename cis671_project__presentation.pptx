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58" r:id="rId4"/>
    <p:sldId id="261" r:id="rId5"/>
    <p:sldId id="260" r:id="rId6"/>
    <p:sldId id="266" r:id="rId7"/>
    <p:sldId id="263" r:id="rId8"/>
    <p:sldId id="264" r:id="rId9"/>
    <p:sldId id="262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07D6F8-4318-4C20-9429-3D8C5AA1E54F}" v="32" dt="2025-04-17T09:09:18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100C7B-BEF1-4293-9215-C7077F2282E6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FDFAAA2-EA4B-4660-AD6C-2ED89BA5962E}">
      <dgm:prSet/>
      <dgm:spPr/>
      <dgm:t>
        <a:bodyPr/>
        <a:lstStyle/>
        <a:p>
          <a:r>
            <a:rPr lang="en-US" b="1"/>
            <a:t>What We Set Out to Do</a:t>
          </a:r>
          <a:r>
            <a:rPr lang="en-US"/>
            <a:t>:</a:t>
          </a:r>
        </a:p>
      </dgm:t>
    </dgm:pt>
    <dgm:pt modelId="{9FCEC5EE-CB2F-46E2-938B-9B588D319157}" type="parTrans" cxnId="{965BCB72-4F76-4702-8FA4-434B9DB6F609}">
      <dgm:prSet/>
      <dgm:spPr/>
      <dgm:t>
        <a:bodyPr/>
        <a:lstStyle/>
        <a:p>
          <a:endParaRPr lang="en-US"/>
        </a:p>
      </dgm:t>
    </dgm:pt>
    <dgm:pt modelId="{76C4CC01-6678-4227-933A-DF0F6B706FC4}" type="sibTrans" cxnId="{965BCB72-4F76-4702-8FA4-434B9DB6F609}">
      <dgm:prSet/>
      <dgm:spPr/>
      <dgm:t>
        <a:bodyPr/>
        <a:lstStyle/>
        <a:p>
          <a:endParaRPr lang="en-US"/>
        </a:p>
      </dgm:t>
    </dgm:pt>
    <dgm:pt modelId="{D85D42EA-F981-4561-A74E-841E76F37F83}">
      <dgm:prSet/>
      <dgm:spPr/>
      <dgm:t>
        <a:bodyPr/>
        <a:lstStyle/>
        <a:p>
          <a:r>
            <a:rPr lang="en-US"/>
            <a:t>Understand and visualize global EV adoption trends from 2010–2023.</a:t>
          </a:r>
        </a:p>
      </dgm:t>
    </dgm:pt>
    <dgm:pt modelId="{902BFE46-B58B-46BD-8E2A-BE556C197332}" type="parTrans" cxnId="{27E7381B-6140-4806-B36E-6FF3FD051A5F}">
      <dgm:prSet/>
      <dgm:spPr/>
      <dgm:t>
        <a:bodyPr/>
        <a:lstStyle/>
        <a:p>
          <a:endParaRPr lang="en-US"/>
        </a:p>
      </dgm:t>
    </dgm:pt>
    <dgm:pt modelId="{CD883531-0660-4A9E-A6AF-81DB493F43A2}" type="sibTrans" cxnId="{27E7381B-6140-4806-B36E-6FF3FD051A5F}">
      <dgm:prSet/>
      <dgm:spPr/>
      <dgm:t>
        <a:bodyPr/>
        <a:lstStyle/>
        <a:p>
          <a:endParaRPr lang="en-US"/>
        </a:p>
      </dgm:t>
    </dgm:pt>
    <dgm:pt modelId="{7288CD3D-9CCE-45AA-AF6B-5BF20C152540}">
      <dgm:prSet/>
      <dgm:spPr/>
      <dgm:t>
        <a:bodyPr/>
        <a:lstStyle/>
        <a:p>
          <a:r>
            <a:rPr lang="en-US"/>
            <a:t>Explore regional differences, powertrain types, and environmental impact.</a:t>
          </a:r>
        </a:p>
      </dgm:t>
    </dgm:pt>
    <dgm:pt modelId="{CD249A12-ED31-4E7A-8C63-CB2E78608E22}" type="parTrans" cxnId="{39E4138C-0F9C-4BB9-8D4F-52FB98F40244}">
      <dgm:prSet/>
      <dgm:spPr/>
      <dgm:t>
        <a:bodyPr/>
        <a:lstStyle/>
        <a:p>
          <a:endParaRPr lang="en-US"/>
        </a:p>
      </dgm:t>
    </dgm:pt>
    <dgm:pt modelId="{32DC8D6C-655B-4CB3-914E-9E0AC6995CC5}" type="sibTrans" cxnId="{39E4138C-0F9C-4BB9-8D4F-52FB98F40244}">
      <dgm:prSet/>
      <dgm:spPr/>
      <dgm:t>
        <a:bodyPr/>
        <a:lstStyle/>
        <a:p>
          <a:endParaRPr lang="en-US"/>
        </a:p>
      </dgm:t>
    </dgm:pt>
    <dgm:pt modelId="{33FA34F7-4D0F-490D-9484-F972463162AF}">
      <dgm:prSet/>
      <dgm:spPr/>
      <dgm:t>
        <a:bodyPr/>
        <a:lstStyle/>
        <a:p>
          <a:r>
            <a:rPr lang="en-US" b="1"/>
            <a:t>Why It Matters</a:t>
          </a:r>
          <a:r>
            <a:rPr lang="en-US"/>
            <a:t>:</a:t>
          </a:r>
        </a:p>
      </dgm:t>
    </dgm:pt>
    <dgm:pt modelId="{C7F85CC9-069F-47E2-A2FD-B34505B0EA73}" type="parTrans" cxnId="{1A159FB7-7D3E-4A71-A033-FF977B02C2CA}">
      <dgm:prSet/>
      <dgm:spPr/>
      <dgm:t>
        <a:bodyPr/>
        <a:lstStyle/>
        <a:p>
          <a:endParaRPr lang="en-US"/>
        </a:p>
      </dgm:t>
    </dgm:pt>
    <dgm:pt modelId="{5D3C9FA4-D7E3-4760-9A0E-981501AF2E3F}" type="sibTrans" cxnId="{1A159FB7-7D3E-4A71-A033-FF977B02C2CA}">
      <dgm:prSet/>
      <dgm:spPr/>
      <dgm:t>
        <a:bodyPr/>
        <a:lstStyle/>
        <a:p>
          <a:endParaRPr lang="en-US"/>
        </a:p>
      </dgm:t>
    </dgm:pt>
    <dgm:pt modelId="{BBB052CE-B741-4663-9E86-A6994445D01C}">
      <dgm:prSet/>
      <dgm:spPr/>
      <dgm:t>
        <a:bodyPr/>
        <a:lstStyle/>
        <a:p>
          <a:r>
            <a:rPr lang="en-US"/>
            <a:t>EVs are key to reducing global oil dependency and emissions.</a:t>
          </a:r>
        </a:p>
      </dgm:t>
    </dgm:pt>
    <dgm:pt modelId="{487643C8-E2D1-4960-9A95-71821A5D290E}" type="parTrans" cxnId="{BA136794-F154-431F-9FE4-68DFAEB7D691}">
      <dgm:prSet/>
      <dgm:spPr/>
      <dgm:t>
        <a:bodyPr/>
        <a:lstStyle/>
        <a:p>
          <a:endParaRPr lang="en-US"/>
        </a:p>
      </dgm:t>
    </dgm:pt>
    <dgm:pt modelId="{41E42A14-E850-48DB-9DF8-9D5E4F6B6C46}" type="sibTrans" cxnId="{BA136794-F154-431F-9FE4-68DFAEB7D691}">
      <dgm:prSet/>
      <dgm:spPr/>
      <dgm:t>
        <a:bodyPr/>
        <a:lstStyle/>
        <a:p>
          <a:endParaRPr lang="en-US"/>
        </a:p>
      </dgm:t>
    </dgm:pt>
    <dgm:pt modelId="{0FD4077A-7DD2-45B0-8CA1-8EE2ADCD804E}">
      <dgm:prSet/>
      <dgm:spPr/>
      <dgm:t>
        <a:bodyPr/>
        <a:lstStyle/>
        <a:p>
          <a:r>
            <a:rPr lang="en-US"/>
            <a:t>Insights help policymakers, researchers, and consumers.</a:t>
          </a:r>
        </a:p>
      </dgm:t>
    </dgm:pt>
    <dgm:pt modelId="{7F73F093-A151-480A-AE58-DDE60BE08CE2}" type="parTrans" cxnId="{D6A16C15-C789-4303-A877-05F8C31D7E7A}">
      <dgm:prSet/>
      <dgm:spPr/>
      <dgm:t>
        <a:bodyPr/>
        <a:lstStyle/>
        <a:p>
          <a:endParaRPr lang="en-US"/>
        </a:p>
      </dgm:t>
    </dgm:pt>
    <dgm:pt modelId="{BCC74C78-AE5C-4EB3-9095-F8481BC96553}" type="sibTrans" cxnId="{D6A16C15-C789-4303-A877-05F8C31D7E7A}">
      <dgm:prSet/>
      <dgm:spPr/>
      <dgm:t>
        <a:bodyPr/>
        <a:lstStyle/>
        <a:p>
          <a:endParaRPr lang="en-US"/>
        </a:p>
      </dgm:t>
    </dgm:pt>
    <dgm:pt modelId="{A1E0C64B-2180-479F-A822-CE9F2CD44522}">
      <dgm:prSet/>
      <dgm:spPr/>
      <dgm:t>
        <a:bodyPr/>
        <a:lstStyle/>
        <a:p>
          <a:r>
            <a:rPr lang="en-US" b="1"/>
            <a:t>Our Key Questions/Tasks</a:t>
          </a:r>
          <a:r>
            <a:rPr lang="en-US"/>
            <a:t>:</a:t>
          </a:r>
        </a:p>
      </dgm:t>
    </dgm:pt>
    <dgm:pt modelId="{25CB4EF1-99F9-4214-8A61-5765B3FB6466}" type="parTrans" cxnId="{41D2256B-CF92-450B-B83C-419D3FD01268}">
      <dgm:prSet/>
      <dgm:spPr/>
      <dgm:t>
        <a:bodyPr/>
        <a:lstStyle/>
        <a:p>
          <a:endParaRPr lang="en-US"/>
        </a:p>
      </dgm:t>
    </dgm:pt>
    <dgm:pt modelId="{68E9D6C1-6850-4D7E-BF99-1BDB14E6FD1B}" type="sibTrans" cxnId="{41D2256B-CF92-450B-B83C-419D3FD01268}">
      <dgm:prSet/>
      <dgm:spPr/>
      <dgm:t>
        <a:bodyPr/>
        <a:lstStyle/>
        <a:p>
          <a:endParaRPr lang="en-US"/>
        </a:p>
      </dgm:t>
    </dgm:pt>
    <dgm:pt modelId="{8C1A41DB-FBD2-4AAC-8397-71C95BBD6025}">
      <dgm:prSet/>
      <dgm:spPr/>
      <dgm:t>
        <a:bodyPr/>
        <a:lstStyle/>
        <a:p>
          <a:r>
            <a:rPr lang="en-US"/>
            <a:t>How have global EV sales evolved over time?</a:t>
          </a:r>
        </a:p>
      </dgm:t>
    </dgm:pt>
    <dgm:pt modelId="{C7E1A8CB-AC25-49D3-9F16-9668A389E487}" type="parTrans" cxnId="{9FA2CF5A-C523-427A-9483-9748F3AC8882}">
      <dgm:prSet/>
      <dgm:spPr/>
      <dgm:t>
        <a:bodyPr/>
        <a:lstStyle/>
        <a:p>
          <a:endParaRPr lang="en-US"/>
        </a:p>
      </dgm:t>
    </dgm:pt>
    <dgm:pt modelId="{2DEEB1E9-6BFA-4D77-BFD8-655851101FD2}" type="sibTrans" cxnId="{9FA2CF5A-C523-427A-9483-9748F3AC8882}">
      <dgm:prSet/>
      <dgm:spPr/>
      <dgm:t>
        <a:bodyPr/>
        <a:lstStyle/>
        <a:p>
          <a:endParaRPr lang="en-US"/>
        </a:p>
      </dgm:t>
    </dgm:pt>
    <dgm:pt modelId="{9D2D4380-77F6-456A-AD73-5E42FA30B62D}">
      <dgm:prSet/>
      <dgm:spPr/>
      <dgm:t>
        <a:bodyPr/>
        <a:lstStyle/>
        <a:p>
          <a:r>
            <a:rPr lang="en-US"/>
            <a:t>How does EV adoption vary across countries/regions?</a:t>
          </a:r>
        </a:p>
      </dgm:t>
    </dgm:pt>
    <dgm:pt modelId="{2DA1FE75-A669-4150-AAE9-65E4A300CD68}" type="parTrans" cxnId="{87196BF7-E8E6-49BA-AF33-E9C9B1BF0ADE}">
      <dgm:prSet/>
      <dgm:spPr/>
      <dgm:t>
        <a:bodyPr/>
        <a:lstStyle/>
        <a:p>
          <a:endParaRPr lang="en-US"/>
        </a:p>
      </dgm:t>
    </dgm:pt>
    <dgm:pt modelId="{7C51BE87-AA0C-4CD5-8982-9094919AAF08}" type="sibTrans" cxnId="{87196BF7-E8E6-49BA-AF33-E9C9B1BF0ADE}">
      <dgm:prSet/>
      <dgm:spPr/>
      <dgm:t>
        <a:bodyPr/>
        <a:lstStyle/>
        <a:p>
          <a:endParaRPr lang="en-US"/>
        </a:p>
      </dgm:t>
    </dgm:pt>
    <dgm:pt modelId="{37F604CB-2AD6-42C9-BAD6-E1719853FFFE}">
      <dgm:prSet/>
      <dgm:spPr/>
      <dgm:t>
        <a:bodyPr/>
        <a:lstStyle/>
        <a:p>
          <a:r>
            <a:rPr lang="en-US"/>
            <a:t>What’s the relationship between EV growth and oil displacement?</a:t>
          </a:r>
        </a:p>
      </dgm:t>
    </dgm:pt>
    <dgm:pt modelId="{CE200B72-38E0-4B25-A5F1-A395BD3CA11A}" type="parTrans" cxnId="{6B0E4B45-2FE0-4445-B6D9-99038BA77490}">
      <dgm:prSet/>
      <dgm:spPr/>
      <dgm:t>
        <a:bodyPr/>
        <a:lstStyle/>
        <a:p>
          <a:endParaRPr lang="en-US"/>
        </a:p>
      </dgm:t>
    </dgm:pt>
    <dgm:pt modelId="{52B63A4E-1A76-4622-AEFD-99A994AB3139}" type="sibTrans" cxnId="{6B0E4B45-2FE0-4445-B6D9-99038BA77490}">
      <dgm:prSet/>
      <dgm:spPr/>
      <dgm:t>
        <a:bodyPr/>
        <a:lstStyle/>
        <a:p>
          <a:endParaRPr lang="en-US"/>
        </a:p>
      </dgm:t>
    </dgm:pt>
    <dgm:pt modelId="{085E90B5-EEDE-4EA3-8BAF-3A38188195D2}">
      <dgm:prSet/>
      <dgm:spPr/>
      <dgm:t>
        <a:bodyPr/>
        <a:lstStyle/>
        <a:p>
          <a:r>
            <a:rPr lang="en-US"/>
            <a:t>Which regions dominate in BEV vs. PHEV?</a:t>
          </a:r>
        </a:p>
      </dgm:t>
    </dgm:pt>
    <dgm:pt modelId="{523199D9-C21F-4538-A80E-4CAB6839F787}" type="parTrans" cxnId="{B85DB26A-ECD7-4542-B560-EA005B74A789}">
      <dgm:prSet/>
      <dgm:spPr/>
      <dgm:t>
        <a:bodyPr/>
        <a:lstStyle/>
        <a:p>
          <a:endParaRPr lang="en-US"/>
        </a:p>
      </dgm:t>
    </dgm:pt>
    <dgm:pt modelId="{CBE2BB5B-AABB-4D4E-98DD-42DCF67040F1}" type="sibTrans" cxnId="{B85DB26A-ECD7-4542-B560-EA005B74A789}">
      <dgm:prSet/>
      <dgm:spPr/>
      <dgm:t>
        <a:bodyPr/>
        <a:lstStyle/>
        <a:p>
          <a:endParaRPr lang="en-US"/>
        </a:p>
      </dgm:t>
    </dgm:pt>
    <dgm:pt modelId="{C055F1BA-7F21-4198-B554-787411A9E928}">
      <dgm:prSet/>
      <dgm:spPr/>
      <dgm:t>
        <a:bodyPr/>
        <a:lstStyle/>
        <a:p>
          <a:r>
            <a:rPr lang="en-US"/>
            <a:t>Where is EV penetration highest?</a:t>
          </a:r>
        </a:p>
      </dgm:t>
    </dgm:pt>
    <dgm:pt modelId="{B642C5E4-0DC8-40F2-BDA5-2CA68AA16D21}" type="parTrans" cxnId="{A9DFF8A6-F815-4178-B3B4-4BE569892DCF}">
      <dgm:prSet/>
      <dgm:spPr/>
      <dgm:t>
        <a:bodyPr/>
        <a:lstStyle/>
        <a:p>
          <a:endParaRPr lang="en-US"/>
        </a:p>
      </dgm:t>
    </dgm:pt>
    <dgm:pt modelId="{94015AED-ADBA-4007-AE26-757A603EBAE6}" type="sibTrans" cxnId="{A9DFF8A6-F815-4178-B3B4-4BE569892DCF}">
      <dgm:prSet/>
      <dgm:spPr/>
      <dgm:t>
        <a:bodyPr/>
        <a:lstStyle/>
        <a:p>
          <a:endParaRPr lang="en-US"/>
        </a:p>
      </dgm:t>
    </dgm:pt>
    <dgm:pt modelId="{C4FAEEAC-A988-4198-95D7-46D3BE34ADAD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Which Powertrain Types Dominate the EV Landscape Globally?</a:t>
          </a:r>
          <a:endParaRPr lang="en-US" dirty="0"/>
        </a:p>
      </dgm:t>
    </dgm:pt>
    <dgm:pt modelId="{E36ADDA9-2CBB-456C-8D6E-8B81B6CF7D7F}" type="parTrans" cxnId="{D03F894A-DE03-492A-A436-B57E5E3EC005}">
      <dgm:prSet/>
      <dgm:spPr/>
      <dgm:t>
        <a:bodyPr/>
        <a:lstStyle/>
        <a:p>
          <a:endParaRPr lang="en-US"/>
        </a:p>
      </dgm:t>
    </dgm:pt>
    <dgm:pt modelId="{F9F12672-2240-442D-8299-73DD21A5441C}" type="sibTrans" cxnId="{D03F894A-DE03-492A-A436-B57E5E3EC005}">
      <dgm:prSet/>
      <dgm:spPr/>
      <dgm:t>
        <a:bodyPr/>
        <a:lstStyle/>
        <a:p>
          <a:endParaRPr lang="en-US"/>
        </a:p>
      </dgm:t>
    </dgm:pt>
    <dgm:pt modelId="{5027B3B5-C8C0-4D62-824C-91EBC45AB51D}" type="pres">
      <dgm:prSet presAssocID="{9F100C7B-BEF1-4293-9215-C7077F2282E6}" presName="Name0" presStyleCnt="0">
        <dgm:presLayoutVars>
          <dgm:dir/>
          <dgm:animLvl val="lvl"/>
          <dgm:resizeHandles val="exact"/>
        </dgm:presLayoutVars>
      </dgm:prSet>
      <dgm:spPr/>
    </dgm:pt>
    <dgm:pt modelId="{428B0FB7-FF4C-4FD7-8239-69901E463693}" type="pres">
      <dgm:prSet presAssocID="{DFDFAAA2-EA4B-4660-AD6C-2ED89BA5962E}" presName="composite" presStyleCnt="0"/>
      <dgm:spPr/>
    </dgm:pt>
    <dgm:pt modelId="{E19C9573-7732-48FD-B3AE-A54C51C06B84}" type="pres">
      <dgm:prSet presAssocID="{DFDFAAA2-EA4B-4660-AD6C-2ED89BA5962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1A5C549-66F8-4F63-B8B6-B7CFF7FA99A2}" type="pres">
      <dgm:prSet presAssocID="{DFDFAAA2-EA4B-4660-AD6C-2ED89BA5962E}" presName="desTx" presStyleLbl="alignAccFollowNode1" presStyleIdx="0" presStyleCnt="3">
        <dgm:presLayoutVars>
          <dgm:bulletEnabled val="1"/>
        </dgm:presLayoutVars>
      </dgm:prSet>
      <dgm:spPr/>
    </dgm:pt>
    <dgm:pt modelId="{1E81307B-BA23-470C-B1EE-0F68B7C34AC4}" type="pres">
      <dgm:prSet presAssocID="{76C4CC01-6678-4227-933A-DF0F6B706FC4}" presName="space" presStyleCnt="0"/>
      <dgm:spPr/>
    </dgm:pt>
    <dgm:pt modelId="{66E7AFC0-FE0B-43B8-A211-CFD273BDF2AE}" type="pres">
      <dgm:prSet presAssocID="{33FA34F7-4D0F-490D-9484-F972463162AF}" presName="composite" presStyleCnt="0"/>
      <dgm:spPr/>
    </dgm:pt>
    <dgm:pt modelId="{BB1DB574-3CAD-466C-9DE5-56AF6FD0CFA2}" type="pres">
      <dgm:prSet presAssocID="{33FA34F7-4D0F-490D-9484-F972463162A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5ACED41-E5DE-4B91-B234-59B876B9CE9D}" type="pres">
      <dgm:prSet presAssocID="{33FA34F7-4D0F-490D-9484-F972463162AF}" presName="desTx" presStyleLbl="alignAccFollowNode1" presStyleIdx="1" presStyleCnt="3">
        <dgm:presLayoutVars>
          <dgm:bulletEnabled val="1"/>
        </dgm:presLayoutVars>
      </dgm:prSet>
      <dgm:spPr/>
    </dgm:pt>
    <dgm:pt modelId="{76780EE9-55E2-4E0D-9BDB-760FE034667C}" type="pres">
      <dgm:prSet presAssocID="{5D3C9FA4-D7E3-4760-9A0E-981501AF2E3F}" presName="space" presStyleCnt="0"/>
      <dgm:spPr/>
    </dgm:pt>
    <dgm:pt modelId="{E94701B9-8B5A-495C-B04E-EA4CFEB7F0F4}" type="pres">
      <dgm:prSet presAssocID="{A1E0C64B-2180-479F-A822-CE9F2CD44522}" presName="composite" presStyleCnt="0"/>
      <dgm:spPr/>
    </dgm:pt>
    <dgm:pt modelId="{6E34A4F7-B568-4B3E-A3DF-24CAD795015E}" type="pres">
      <dgm:prSet presAssocID="{A1E0C64B-2180-479F-A822-CE9F2CD4452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24AAF94-1D83-46B9-B4C1-FB633C06115C}" type="pres">
      <dgm:prSet presAssocID="{A1E0C64B-2180-479F-A822-CE9F2CD4452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6A16C15-C789-4303-A877-05F8C31D7E7A}" srcId="{33FA34F7-4D0F-490D-9484-F972463162AF}" destId="{0FD4077A-7DD2-45B0-8CA1-8EE2ADCD804E}" srcOrd="1" destOrd="0" parTransId="{7F73F093-A151-480A-AE58-DDE60BE08CE2}" sibTransId="{BCC74C78-AE5C-4EB3-9095-F8481BC96553}"/>
    <dgm:cxn modelId="{27E7381B-6140-4806-B36E-6FF3FD051A5F}" srcId="{DFDFAAA2-EA4B-4660-AD6C-2ED89BA5962E}" destId="{D85D42EA-F981-4561-A74E-841E76F37F83}" srcOrd="0" destOrd="0" parTransId="{902BFE46-B58B-46BD-8E2A-BE556C197332}" sibTransId="{CD883531-0660-4A9E-A6AF-81DB493F43A2}"/>
    <dgm:cxn modelId="{CD30531F-6BA3-42C1-994E-5F70131532DF}" type="presOf" srcId="{BBB052CE-B741-4663-9E86-A6994445D01C}" destId="{A5ACED41-E5DE-4B91-B234-59B876B9CE9D}" srcOrd="0" destOrd="0" presId="urn:microsoft.com/office/officeart/2005/8/layout/hList1"/>
    <dgm:cxn modelId="{3479A220-C82E-47F1-A9DE-47549F38D238}" type="presOf" srcId="{9F100C7B-BEF1-4293-9215-C7077F2282E6}" destId="{5027B3B5-C8C0-4D62-824C-91EBC45AB51D}" srcOrd="0" destOrd="0" presId="urn:microsoft.com/office/officeart/2005/8/layout/hList1"/>
    <dgm:cxn modelId="{3995EF39-660C-4A5D-BB74-6FFA16141C5B}" type="presOf" srcId="{8C1A41DB-FBD2-4AAC-8397-71C95BBD6025}" destId="{D24AAF94-1D83-46B9-B4C1-FB633C06115C}" srcOrd="0" destOrd="0" presId="urn:microsoft.com/office/officeart/2005/8/layout/hList1"/>
    <dgm:cxn modelId="{E9C1295D-FAA3-4DA3-AD2E-FA55D2651BB9}" type="presOf" srcId="{37F604CB-2AD6-42C9-BAD6-E1719853FFFE}" destId="{D24AAF94-1D83-46B9-B4C1-FB633C06115C}" srcOrd="0" destOrd="2" presId="urn:microsoft.com/office/officeart/2005/8/layout/hList1"/>
    <dgm:cxn modelId="{6B0E4B45-2FE0-4445-B6D9-99038BA77490}" srcId="{A1E0C64B-2180-479F-A822-CE9F2CD44522}" destId="{37F604CB-2AD6-42C9-BAD6-E1719853FFFE}" srcOrd="2" destOrd="0" parTransId="{CE200B72-38E0-4B25-A5F1-A395BD3CA11A}" sibTransId="{52B63A4E-1A76-4622-AEFD-99A994AB3139}"/>
    <dgm:cxn modelId="{D7FE2749-9A64-4015-9673-BE48209B889A}" type="presOf" srcId="{33FA34F7-4D0F-490D-9484-F972463162AF}" destId="{BB1DB574-3CAD-466C-9DE5-56AF6FD0CFA2}" srcOrd="0" destOrd="0" presId="urn:microsoft.com/office/officeart/2005/8/layout/hList1"/>
    <dgm:cxn modelId="{D8613249-3D28-4E17-9EBC-E18C93FE78C7}" type="presOf" srcId="{A1E0C64B-2180-479F-A822-CE9F2CD44522}" destId="{6E34A4F7-B568-4B3E-A3DF-24CAD795015E}" srcOrd="0" destOrd="0" presId="urn:microsoft.com/office/officeart/2005/8/layout/hList1"/>
    <dgm:cxn modelId="{D03F894A-DE03-492A-A436-B57E5E3EC005}" srcId="{A1E0C64B-2180-479F-A822-CE9F2CD44522}" destId="{C4FAEEAC-A988-4198-95D7-46D3BE34ADAD}" srcOrd="5" destOrd="0" parTransId="{E36ADDA9-2CBB-456C-8D6E-8B81B6CF7D7F}" sibTransId="{F9F12672-2240-442D-8299-73DD21A5441C}"/>
    <dgm:cxn modelId="{B85DB26A-ECD7-4542-B560-EA005B74A789}" srcId="{A1E0C64B-2180-479F-A822-CE9F2CD44522}" destId="{085E90B5-EEDE-4EA3-8BAF-3A38188195D2}" srcOrd="3" destOrd="0" parTransId="{523199D9-C21F-4538-A80E-4CAB6839F787}" sibTransId="{CBE2BB5B-AABB-4D4E-98DD-42DCF67040F1}"/>
    <dgm:cxn modelId="{41D2256B-CF92-450B-B83C-419D3FD01268}" srcId="{9F100C7B-BEF1-4293-9215-C7077F2282E6}" destId="{A1E0C64B-2180-479F-A822-CE9F2CD44522}" srcOrd="2" destOrd="0" parTransId="{25CB4EF1-99F9-4214-8A61-5765B3FB6466}" sibTransId="{68E9D6C1-6850-4D7E-BF99-1BDB14E6FD1B}"/>
    <dgm:cxn modelId="{8AFD886B-A298-471B-A454-057F6CF530DB}" type="presOf" srcId="{C055F1BA-7F21-4198-B554-787411A9E928}" destId="{D24AAF94-1D83-46B9-B4C1-FB633C06115C}" srcOrd="0" destOrd="4" presId="urn:microsoft.com/office/officeart/2005/8/layout/hList1"/>
    <dgm:cxn modelId="{965BCB72-4F76-4702-8FA4-434B9DB6F609}" srcId="{9F100C7B-BEF1-4293-9215-C7077F2282E6}" destId="{DFDFAAA2-EA4B-4660-AD6C-2ED89BA5962E}" srcOrd="0" destOrd="0" parTransId="{9FCEC5EE-CB2F-46E2-938B-9B588D319157}" sibTransId="{76C4CC01-6678-4227-933A-DF0F6B706FC4}"/>
    <dgm:cxn modelId="{9FA2CF5A-C523-427A-9483-9748F3AC8882}" srcId="{A1E0C64B-2180-479F-A822-CE9F2CD44522}" destId="{8C1A41DB-FBD2-4AAC-8397-71C95BBD6025}" srcOrd="0" destOrd="0" parTransId="{C7E1A8CB-AC25-49D3-9F16-9668A389E487}" sibTransId="{2DEEB1E9-6BFA-4D77-BFD8-655851101FD2}"/>
    <dgm:cxn modelId="{80E2E77C-0FEB-49A9-B05C-9BAD45945F66}" type="presOf" srcId="{DFDFAAA2-EA4B-4660-AD6C-2ED89BA5962E}" destId="{E19C9573-7732-48FD-B3AE-A54C51C06B84}" srcOrd="0" destOrd="0" presId="urn:microsoft.com/office/officeart/2005/8/layout/hList1"/>
    <dgm:cxn modelId="{F6C8307E-6958-4A3E-B17C-F6B35543A4A6}" type="presOf" srcId="{9D2D4380-77F6-456A-AD73-5E42FA30B62D}" destId="{D24AAF94-1D83-46B9-B4C1-FB633C06115C}" srcOrd="0" destOrd="1" presId="urn:microsoft.com/office/officeart/2005/8/layout/hList1"/>
    <dgm:cxn modelId="{39E4138C-0F9C-4BB9-8D4F-52FB98F40244}" srcId="{DFDFAAA2-EA4B-4660-AD6C-2ED89BA5962E}" destId="{7288CD3D-9CCE-45AA-AF6B-5BF20C152540}" srcOrd="1" destOrd="0" parTransId="{CD249A12-ED31-4E7A-8C63-CB2E78608E22}" sibTransId="{32DC8D6C-655B-4CB3-914E-9E0AC6995CC5}"/>
    <dgm:cxn modelId="{BA136794-F154-431F-9FE4-68DFAEB7D691}" srcId="{33FA34F7-4D0F-490D-9484-F972463162AF}" destId="{BBB052CE-B741-4663-9E86-A6994445D01C}" srcOrd="0" destOrd="0" parTransId="{487643C8-E2D1-4960-9A95-71821A5D290E}" sibTransId="{41E42A14-E850-48DB-9DF8-9D5E4F6B6C46}"/>
    <dgm:cxn modelId="{A9DFF8A6-F815-4178-B3B4-4BE569892DCF}" srcId="{A1E0C64B-2180-479F-A822-CE9F2CD44522}" destId="{C055F1BA-7F21-4198-B554-787411A9E928}" srcOrd="4" destOrd="0" parTransId="{B642C5E4-0DC8-40F2-BDA5-2CA68AA16D21}" sibTransId="{94015AED-ADBA-4007-AE26-757A603EBAE6}"/>
    <dgm:cxn modelId="{F6E897A9-515C-4E35-9907-0919D4A88C0C}" type="presOf" srcId="{C4FAEEAC-A988-4198-95D7-46D3BE34ADAD}" destId="{D24AAF94-1D83-46B9-B4C1-FB633C06115C}" srcOrd="0" destOrd="5" presId="urn:microsoft.com/office/officeart/2005/8/layout/hList1"/>
    <dgm:cxn modelId="{81483EB2-F6AF-4DB3-AA5C-1B3577D0DF44}" type="presOf" srcId="{D85D42EA-F981-4561-A74E-841E76F37F83}" destId="{31A5C549-66F8-4F63-B8B6-B7CFF7FA99A2}" srcOrd="0" destOrd="0" presId="urn:microsoft.com/office/officeart/2005/8/layout/hList1"/>
    <dgm:cxn modelId="{1A159FB7-7D3E-4A71-A033-FF977B02C2CA}" srcId="{9F100C7B-BEF1-4293-9215-C7077F2282E6}" destId="{33FA34F7-4D0F-490D-9484-F972463162AF}" srcOrd="1" destOrd="0" parTransId="{C7F85CC9-069F-47E2-A2FD-B34505B0EA73}" sibTransId="{5D3C9FA4-D7E3-4760-9A0E-981501AF2E3F}"/>
    <dgm:cxn modelId="{BA7CB0BE-7400-48D4-9A62-901155A8DD10}" type="presOf" srcId="{0FD4077A-7DD2-45B0-8CA1-8EE2ADCD804E}" destId="{A5ACED41-E5DE-4B91-B234-59B876B9CE9D}" srcOrd="0" destOrd="1" presId="urn:microsoft.com/office/officeart/2005/8/layout/hList1"/>
    <dgm:cxn modelId="{084F98CA-C0CB-4BA1-B0BB-5C2F12437789}" type="presOf" srcId="{7288CD3D-9CCE-45AA-AF6B-5BF20C152540}" destId="{31A5C549-66F8-4F63-B8B6-B7CFF7FA99A2}" srcOrd="0" destOrd="1" presId="urn:microsoft.com/office/officeart/2005/8/layout/hList1"/>
    <dgm:cxn modelId="{14895BEE-EBFF-415E-8B31-DD50048FE916}" type="presOf" srcId="{085E90B5-EEDE-4EA3-8BAF-3A38188195D2}" destId="{D24AAF94-1D83-46B9-B4C1-FB633C06115C}" srcOrd="0" destOrd="3" presId="urn:microsoft.com/office/officeart/2005/8/layout/hList1"/>
    <dgm:cxn modelId="{87196BF7-E8E6-49BA-AF33-E9C9B1BF0ADE}" srcId="{A1E0C64B-2180-479F-A822-CE9F2CD44522}" destId="{9D2D4380-77F6-456A-AD73-5E42FA30B62D}" srcOrd="1" destOrd="0" parTransId="{2DA1FE75-A669-4150-AAE9-65E4A300CD68}" sibTransId="{7C51BE87-AA0C-4CD5-8982-9094919AAF08}"/>
    <dgm:cxn modelId="{314FDE78-6419-4A7A-9977-E7F3ABBC8CCA}" type="presParOf" srcId="{5027B3B5-C8C0-4D62-824C-91EBC45AB51D}" destId="{428B0FB7-FF4C-4FD7-8239-69901E463693}" srcOrd="0" destOrd="0" presId="urn:microsoft.com/office/officeart/2005/8/layout/hList1"/>
    <dgm:cxn modelId="{278EC1D2-00E8-46FA-938B-D49BBB75B2D8}" type="presParOf" srcId="{428B0FB7-FF4C-4FD7-8239-69901E463693}" destId="{E19C9573-7732-48FD-B3AE-A54C51C06B84}" srcOrd="0" destOrd="0" presId="urn:microsoft.com/office/officeart/2005/8/layout/hList1"/>
    <dgm:cxn modelId="{BD937BB5-C724-47A2-A6B3-FAF86E1AA730}" type="presParOf" srcId="{428B0FB7-FF4C-4FD7-8239-69901E463693}" destId="{31A5C549-66F8-4F63-B8B6-B7CFF7FA99A2}" srcOrd="1" destOrd="0" presId="urn:microsoft.com/office/officeart/2005/8/layout/hList1"/>
    <dgm:cxn modelId="{B470C53F-C770-4487-927C-6A7C704C048F}" type="presParOf" srcId="{5027B3B5-C8C0-4D62-824C-91EBC45AB51D}" destId="{1E81307B-BA23-470C-B1EE-0F68B7C34AC4}" srcOrd="1" destOrd="0" presId="urn:microsoft.com/office/officeart/2005/8/layout/hList1"/>
    <dgm:cxn modelId="{DC7E1055-4ACB-4BBD-8CD6-1F8511B8817E}" type="presParOf" srcId="{5027B3B5-C8C0-4D62-824C-91EBC45AB51D}" destId="{66E7AFC0-FE0B-43B8-A211-CFD273BDF2AE}" srcOrd="2" destOrd="0" presId="urn:microsoft.com/office/officeart/2005/8/layout/hList1"/>
    <dgm:cxn modelId="{CC8B6BAC-C5C6-4CCC-8360-0FDACCD828BD}" type="presParOf" srcId="{66E7AFC0-FE0B-43B8-A211-CFD273BDF2AE}" destId="{BB1DB574-3CAD-466C-9DE5-56AF6FD0CFA2}" srcOrd="0" destOrd="0" presId="urn:microsoft.com/office/officeart/2005/8/layout/hList1"/>
    <dgm:cxn modelId="{F62FE41B-D2ED-4036-B7C4-82AC70C7CF82}" type="presParOf" srcId="{66E7AFC0-FE0B-43B8-A211-CFD273BDF2AE}" destId="{A5ACED41-E5DE-4B91-B234-59B876B9CE9D}" srcOrd="1" destOrd="0" presId="urn:microsoft.com/office/officeart/2005/8/layout/hList1"/>
    <dgm:cxn modelId="{61ADC1E9-E347-46B0-954E-7A23BC327E3B}" type="presParOf" srcId="{5027B3B5-C8C0-4D62-824C-91EBC45AB51D}" destId="{76780EE9-55E2-4E0D-9BDB-760FE034667C}" srcOrd="3" destOrd="0" presId="urn:microsoft.com/office/officeart/2005/8/layout/hList1"/>
    <dgm:cxn modelId="{47FC72D8-D006-4C06-A14F-0BCBDD719D79}" type="presParOf" srcId="{5027B3B5-C8C0-4D62-824C-91EBC45AB51D}" destId="{E94701B9-8B5A-495C-B04E-EA4CFEB7F0F4}" srcOrd="4" destOrd="0" presId="urn:microsoft.com/office/officeart/2005/8/layout/hList1"/>
    <dgm:cxn modelId="{0D5258ED-14B9-408A-B55E-60C51BB33B22}" type="presParOf" srcId="{E94701B9-8B5A-495C-B04E-EA4CFEB7F0F4}" destId="{6E34A4F7-B568-4B3E-A3DF-24CAD795015E}" srcOrd="0" destOrd="0" presId="urn:microsoft.com/office/officeart/2005/8/layout/hList1"/>
    <dgm:cxn modelId="{A94677E8-B042-4049-B717-6738FA2196B2}" type="presParOf" srcId="{E94701B9-8B5A-495C-B04E-EA4CFEB7F0F4}" destId="{D24AAF94-1D83-46B9-B4C1-FB633C06115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9C9573-7732-48FD-B3AE-A54C51C06B84}">
      <dsp:nvSpPr>
        <dsp:cNvPr id="0" name=""/>
        <dsp:cNvSpPr/>
      </dsp:nvSpPr>
      <dsp:spPr>
        <a:xfrm>
          <a:off x="1837" y="114708"/>
          <a:ext cx="1791109" cy="5108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What We Set Out to Do</a:t>
          </a:r>
          <a:r>
            <a:rPr lang="en-US" sz="1400" kern="1200"/>
            <a:t>:</a:t>
          </a:r>
        </a:p>
      </dsp:txBody>
      <dsp:txXfrm>
        <a:off x="1837" y="114708"/>
        <a:ext cx="1791109" cy="510877"/>
      </dsp:txXfrm>
    </dsp:sp>
    <dsp:sp modelId="{31A5C549-66F8-4F63-B8B6-B7CFF7FA99A2}">
      <dsp:nvSpPr>
        <dsp:cNvPr id="0" name=""/>
        <dsp:cNvSpPr/>
      </dsp:nvSpPr>
      <dsp:spPr>
        <a:xfrm>
          <a:off x="1837" y="625586"/>
          <a:ext cx="1791109" cy="47461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Understand and visualize global EV adoption trends from 2010–2023.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Explore regional differences, powertrain types, and environmental impact.</a:t>
          </a:r>
        </a:p>
      </dsp:txBody>
      <dsp:txXfrm>
        <a:off x="1837" y="625586"/>
        <a:ext cx="1791109" cy="4746104"/>
      </dsp:txXfrm>
    </dsp:sp>
    <dsp:sp modelId="{BB1DB574-3CAD-466C-9DE5-56AF6FD0CFA2}">
      <dsp:nvSpPr>
        <dsp:cNvPr id="0" name=""/>
        <dsp:cNvSpPr/>
      </dsp:nvSpPr>
      <dsp:spPr>
        <a:xfrm>
          <a:off x="2043701" y="114708"/>
          <a:ext cx="1791109" cy="51087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Why It Matters</a:t>
          </a:r>
          <a:r>
            <a:rPr lang="en-US" sz="1400" kern="1200"/>
            <a:t>:</a:t>
          </a:r>
        </a:p>
      </dsp:txBody>
      <dsp:txXfrm>
        <a:off x="2043701" y="114708"/>
        <a:ext cx="1791109" cy="510877"/>
      </dsp:txXfrm>
    </dsp:sp>
    <dsp:sp modelId="{A5ACED41-E5DE-4B91-B234-59B876B9CE9D}">
      <dsp:nvSpPr>
        <dsp:cNvPr id="0" name=""/>
        <dsp:cNvSpPr/>
      </dsp:nvSpPr>
      <dsp:spPr>
        <a:xfrm>
          <a:off x="2043701" y="625586"/>
          <a:ext cx="1791109" cy="474610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EVs are key to reducing global oil dependency and emissions.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Insights help policymakers, researchers, and consumers.</a:t>
          </a:r>
        </a:p>
      </dsp:txBody>
      <dsp:txXfrm>
        <a:off x="2043701" y="625586"/>
        <a:ext cx="1791109" cy="4746104"/>
      </dsp:txXfrm>
    </dsp:sp>
    <dsp:sp modelId="{6E34A4F7-B568-4B3E-A3DF-24CAD795015E}">
      <dsp:nvSpPr>
        <dsp:cNvPr id="0" name=""/>
        <dsp:cNvSpPr/>
      </dsp:nvSpPr>
      <dsp:spPr>
        <a:xfrm>
          <a:off x="4085565" y="114708"/>
          <a:ext cx="1791109" cy="5108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Our Key Questions/Tasks</a:t>
          </a:r>
          <a:r>
            <a:rPr lang="en-US" sz="1400" kern="1200"/>
            <a:t>:</a:t>
          </a:r>
        </a:p>
      </dsp:txBody>
      <dsp:txXfrm>
        <a:off x="4085565" y="114708"/>
        <a:ext cx="1791109" cy="510877"/>
      </dsp:txXfrm>
    </dsp:sp>
    <dsp:sp modelId="{D24AAF94-1D83-46B9-B4C1-FB633C06115C}">
      <dsp:nvSpPr>
        <dsp:cNvPr id="0" name=""/>
        <dsp:cNvSpPr/>
      </dsp:nvSpPr>
      <dsp:spPr>
        <a:xfrm>
          <a:off x="4085565" y="625586"/>
          <a:ext cx="1791109" cy="474610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How have global EV sales evolved over time?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How does EV adoption vary across countries/regions?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What’s the relationship between EV growth and oil displacement?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Which regions dominate in BEV vs. PHEV?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Where is EV penetration highest?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Which Powertrain Types Dominate the EV Landscape Globally?</a:t>
          </a:r>
          <a:endParaRPr lang="en-US" sz="1400" kern="1200" dirty="0"/>
        </a:p>
      </dsp:txBody>
      <dsp:txXfrm>
        <a:off x="4085565" y="625586"/>
        <a:ext cx="1791109" cy="4746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E461C-3D08-4E46-8B3A-F4B652ABF716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23B6C-0674-4CB1-8A49-71BD40193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4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23B6C-0674-4CB1-8A49-71BD40193F6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8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F1540-B44B-C4F5-9E4E-AA2CC2825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B2A36-5A4D-E92B-5EF9-443736C59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6FEF0-5D88-B36F-2082-D540F1F6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9DCA0-03C7-7481-EA61-500F186D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14103-1E2B-41C2-CE57-C7769D78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68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AC687-F583-1EE4-43E6-00635E540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F285A-3A6C-330D-A787-57FB542C3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49500-23D7-F375-B2FB-9B86560A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F7C30-4611-9D1C-76C6-D96379E6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40D33-9379-745F-E979-45FC1517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8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A5EA-A40C-AEA8-3070-9BE9B528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5941D-DD13-A897-8E05-60639E434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0BF73-F01D-F867-32B1-ACE9000D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7B317-5022-1753-FFD8-F15F5E29E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7CC91-ED0E-9D7B-D503-F95E3EDD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D8C7-EFB0-1C11-891E-64097F41B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826F0-BB16-3AE8-700E-EC8DA07F1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4E083-9EB3-A576-E0D4-B48A58B6F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EABC1-0064-4183-BA84-52C270BF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DDF26-8909-F608-A33E-A38E89116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951D0-9BB2-214A-93F6-A4BAC449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14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C4C14-E081-225A-E32B-4F7BB537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86F11-C1DC-0288-8362-B0E6C0936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05A99-14FD-9CF9-F2F9-A752712B3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8AE372-00F6-D42B-D303-66ACB6659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3D2801-520B-95F7-8F24-53D83DB10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8DFC6-E6BE-7D88-D626-B6B9577D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44555-95E7-A8D4-730C-334781FB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4CE384-4433-A556-BD09-721FEF25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8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1D6EF-35AF-98ED-A822-984A1FD8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CB97A-E09D-85D0-D02E-8EBB171E7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BBBB3-CB6E-561E-1969-A0BC221EE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11510-3FD5-3B2D-F38D-D9AFD586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6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21334-397A-800D-2E03-ADE857B0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FA82A-CDAF-6C54-4232-BFA650CE1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59CD8-4BF0-0B8D-3FEA-2250C797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3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4CA82-2E3A-88C4-EF39-C130F22AC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4F38B-F542-D8ED-EFC7-9A6BBC1C5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FEA1F-B710-CE31-69F4-E9E2A54A4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51AC5-5E8B-4FC2-894D-A3F23B4A1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2D2DA-FD88-43ED-6F9E-AB9573BD7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9FF15-FFC9-05AD-52A6-DFB3459A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9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1146-08DF-5497-52E2-6C2ED40C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1EB2D3-3810-493F-C31D-2FED55739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09CE7-CAFD-EA8B-4534-9CEDACD3E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49EC9-EAEA-6E74-60F8-B766CB0A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43FFD-5367-6C7E-B5CA-7399DF5F0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5601F-A09D-76CD-C3E6-483BDEAF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6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FCD1-3918-F25A-6AA9-017080A15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6A058-426D-EA2A-AB65-6CA196749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31522-F7A1-606D-CCFC-13C77AD2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EAF73-0248-7D69-3F33-75A7EA1C5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858A4-574D-E39C-4A3A-564A4320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10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D2F3D3-E544-B7C7-542F-F6A2FDAA0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A1EBC-5F24-1909-4A4B-E126519D6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43E72-6236-7FA9-21ED-EFD190AE0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3635F-33B7-B2ED-470A-D36EB12C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1CF21-9E9E-1F49-E055-0A00DAAA5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0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7A771-95D6-40CC-7F90-500E24B5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30A5A-649D-6BE5-FF8A-06478DC68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9FC81-2CE1-77EB-4A19-1E32E401E9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FE375-B5A3-4E00-8DD4-2588B3EF985B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F9205-D3EC-E737-3743-C8D88CDFE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1A8CA-A4BD-AD6B-5B82-DBFD3B76F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D1328-2B60-4A62-BD8A-ABEC46F7B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1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B70630-3316-E636-7093-77545A7E58D2}"/>
              </a:ext>
            </a:extLst>
          </p:cNvPr>
          <p:cNvSpPr txBox="1"/>
          <p:nvPr/>
        </p:nvSpPr>
        <p:spPr>
          <a:xfrm>
            <a:off x="1179226" y="1594707"/>
            <a:ext cx="9833548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/>
              <a:t>Visualizing Global EV Growth and Market Dynamics</a:t>
            </a:r>
            <a:endParaRPr lang="en-US" sz="36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3BAD4B8-CE31-131B-273D-33537EE3D4DA}"/>
              </a:ext>
            </a:extLst>
          </p:cNvPr>
          <p:cNvSpPr txBox="1"/>
          <p:nvPr/>
        </p:nvSpPr>
        <p:spPr>
          <a:xfrm>
            <a:off x="1179226" y="3329677"/>
            <a:ext cx="9833548" cy="2457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Team members: </a:t>
            </a:r>
            <a:r>
              <a:rPr lang="en-US">
                <a:solidFill>
                  <a:schemeClr val="tx2"/>
                </a:solidFill>
              </a:rPr>
              <a:t>Karthika Ganjilenka, Devendhar Sangraj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8FAEBD-0E3C-2277-E4E5-BEF121ACD955}"/>
              </a:ext>
            </a:extLst>
          </p:cNvPr>
          <p:cNvSpPr txBox="1"/>
          <p:nvPr/>
        </p:nvSpPr>
        <p:spPr>
          <a:xfrm>
            <a:off x="8940800" y="5782733"/>
            <a:ext cx="28956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Information Visualization</a:t>
            </a:r>
          </a:p>
          <a:p>
            <a:pPr>
              <a:spcAft>
                <a:spcPts val="600"/>
              </a:spcAft>
            </a:pPr>
            <a:r>
              <a:rPr lang="en-US"/>
              <a:t>Prof. Haoyu Li</a:t>
            </a:r>
          </a:p>
        </p:txBody>
      </p:sp>
    </p:spTree>
    <p:extLst>
      <p:ext uri="{BB962C8B-B14F-4D97-AF65-F5344CB8AC3E}">
        <p14:creationId xmlns:p14="http://schemas.microsoft.com/office/powerpoint/2010/main" val="3516842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ar with a graph and an arrow&#10;&#10;AI-generated content may be incorrect.">
            <a:extLst>
              <a:ext uri="{FF2B5EF4-FFF2-40B4-BE49-F238E27FC236}">
                <a16:creationId xmlns:a16="http://schemas.microsoft.com/office/drawing/2014/main" id="{4D136E35-1D7F-A402-7B36-3BB03FA3CA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AAED4-79C3-F34D-B860-8E6D65B55EC5}"/>
              </a:ext>
            </a:extLst>
          </p:cNvPr>
          <p:cNvSpPr txBox="1"/>
          <p:nvPr/>
        </p:nvSpPr>
        <p:spPr>
          <a:xfrm>
            <a:off x="83820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Dataset Description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14409A-35A8-2BD7-693D-8F4C806DD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Dataset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</a:rPr>
              <a:t>IEA Global EV Data 2010–2023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(Kaggle)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Attributes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year, region, category, parameter (e.g. EV sales, stock, oil displacement), value, powertrain, mode, unit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Data Cleaning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Removed missing/empty values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Filtered only useful parameters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Ensured numerical consistency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Public Source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Kaggle IEA EV data (linked)</a:t>
            </a:r>
          </a:p>
        </p:txBody>
      </p:sp>
    </p:spTree>
    <p:extLst>
      <p:ext uri="{BB962C8B-B14F-4D97-AF65-F5344CB8AC3E}">
        <p14:creationId xmlns:p14="http://schemas.microsoft.com/office/powerpoint/2010/main" val="1280904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9439D5-CE5A-8211-A4F7-07C7673A54F0}"/>
              </a:ext>
            </a:extLst>
          </p:cNvPr>
          <p:cNvSpPr txBox="1"/>
          <p:nvPr/>
        </p:nvSpPr>
        <p:spPr>
          <a:xfrm>
            <a:off x="1225292" y="1450655"/>
            <a:ext cx="3932030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Task Definition &amp; Motivation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TextBox 2">
            <a:extLst>
              <a:ext uri="{FF2B5EF4-FFF2-40B4-BE49-F238E27FC236}">
                <a16:creationId xmlns:a16="http://schemas.microsoft.com/office/drawing/2014/main" id="{CFE139FC-3309-49E2-4F7C-6617E9F567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269173"/>
              </p:ext>
            </p:extLst>
          </p:nvPr>
        </p:nvGraphicFramePr>
        <p:xfrm>
          <a:off x="5728502" y="685800"/>
          <a:ext cx="5878512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22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D68F6-969F-FBE0-6B71-4FD24035E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Do EV Powertrain Types Differ Between USA and the Rest of the World?</a:t>
            </a:r>
          </a:p>
        </p:txBody>
      </p:sp>
      <p:pic>
        <p:nvPicPr>
          <p:cNvPr id="3" name="Picture 2" descr="A comparison of different types of sales&#10;&#10;AI-generated content may be incorrect.">
            <a:extLst>
              <a:ext uri="{FF2B5EF4-FFF2-40B4-BE49-F238E27FC236}">
                <a16:creationId xmlns:a16="http://schemas.microsoft.com/office/drawing/2014/main" id="{3C992038-1F9E-BD74-38AE-B62C4D2E6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316" y="1630950"/>
            <a:ext cx="6780700" cy="359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12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75F947-A588-CA49-3ECC-A6C87FD8D73D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Has Global EV Adoption Grown Over Time?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5FA42-6CAC-8A3E-DC38-8620769BE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52" y="1966293"/>
            <a:ext cx="9323895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13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73035C9-93C9-4A1C-B191-8129054EC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97530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C3CA4-10C9-F333-7F3E-EB89D16F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695" y="2248263"/>
            <a:ext cx="3768917" cy="16061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Which Powertrain Types Dominate the EV Landscape Globally?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CCAF9B-9036-BC3A-FE7E-90A0B0B03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54" y="822960"/>
            <a:ext cx="5680766" cy="485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17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B4A76-D85C-3DA8-2C87-74F01BC4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Which EV Vehicle Types Are Growing the Fastest Over Time?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7552F-5471-F68D-CA4F-D2A4255A26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0" r="457"/>
          <a:stretch/>
        </p:blipFill>
        <p:spPr>
          <a:xfrm>
            <a:off x="545238" y="1324635"/>
            <a:ext cx="7608304" cy="427968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2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31E51-E6CC-9B06-B109-B9F084A0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Where Is EV Adoption Highest Around the World?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06EF5-C68A-773B-9ADC-00286A1C2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33" y="1464021"/>
            <a:ext cx="7347537" cy="393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635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29287-B5D0-74CA-00A5-CCDF34C57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 EV Adoption Effectively Reducing Oil Dependence?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899AD-B839-E3D4-DFEF-0AF632AAD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073" y="2354239"/>
            <a:ext cx="7145854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2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88DCC-53E5-B867-AA87-617C4EA67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E517B9-2EC9-F205-5863-AC4497AF2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081" y="1641752"/>
            <a:ext cx="5260975" cy="3960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Global EV adoption is rising exponentially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France  = major EV hubs in 2023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BEVs now outperform PHEVs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EVs contribute significantly to oil savings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EV drives into technological growth, regional adoption, and the global shift toward cleaner transportation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5169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B04B1-4B57-F182-24FF-B28FA597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434" y="-48958"/>
            <a:ext cx="4589328" cy="1889135"/>
          </a:xfrm>
        </p:spPr>
        <p:txBody>
          <a:bodyPr anchor="b">
            <a:normAutofit/>
          </a:bodyPr>
          <a:lstStyle/>
          <a:p>
            <a:r>
              <a:rPr lang="en-US" sz="4800" dirty="0"/>
              <a:t>Roles &amp; Tools</a:t>
            </a:r>
          </a:p>
        </p:txBody>
      </p:sp>
      <p:pic>
        <p:nvPicPr>
          <p:cNvPr id="8" name="Graphic 7" descr="Statistics">
            <a:extLst>
              <a:ext uri="{FF2B5EF4-FFF2-40B4-BE49-F238E27FC236}">
                <a16:creationId xmlns:a16="http://schemas.microsoft.com/office/drawing/2014/main" id="{08FCCEC3-7EDF-59A8-6585-FD1ADE8D3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970" y="895610"/>
            <a:ext cx="5058020" cy="505802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5C2CBA1-7889-9638-B2B0-BC586896D5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71418" y="2271325"/>
            <a:ext cx="4589328" cy="29873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Karthika – Line, Multiline-chart,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 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Devendhar – Donut chart, Map, Bar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D3.js (visualization)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Observable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for preprocessing</a:t>
            </a:r>
          </a:p>
        </p:txBody>
      </p:sp>
    </p:spTree>
    <p:extLst>
      <p:ext uri="{BB962C8B-B14F-4D97-AF65-F5344CB8AC3E}">
        <p14:creationId xmlns:p14="http://schemas.microsoft.com/office/powerpoint/2010/main" val="554577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CA8D8-0B39-7A33-E9EC-CB659AB21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1840" y="2140585"/>
            <a:ext cx="10515600" cy="2136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700" dirty="0">
                <a:latin typeface="Blackadder ITC" panose="04020505051007020D02" pitchFamily="82" charset="0"/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9B6ED-D60B-74A9-F8DD-CE708BD0EA11}"/>
              </a:ext>
            </a:extLst>
          </p:cNvPr>
          <p:cNvSpPr txBox="1"/>
          <p:nvPr/>
        </p:nvSpPr>
        <p:spPr>
          <a:xfrm>
            <a:off x="8300720" y="5882640"/>
            <a:ext cx="4053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radley Hand ITC" panose="03070402050302030203" pitchFamily="66" charset="0"/>
              </a:rPr>
              <a:t>Any Questions?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45696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342</Words>
  <Application>Microsoft Office PowerPoint</Application>
  <PresentationFormat>Widescreen</PresentationFormat>
  <Paragraphs>50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Blackadder ITC</vt:lpstr>
      <vt:lpstr>Bradley Hand ITC</vt:lpstr>
      <vt:lpstr>Times New Roman</vt:lpstr>
      <vt:lpstr>Office Theme</vt:lpstr>
      <vt:lpstr>PowerPoint Presentation</vt:lpstr>
      <vt:lpstr>PowerPoint Presentation</vt:lpstr>
      <vt:lpstr>PowerPoint Presentation</vt:lpstr>
      <vt:lpstr>How Do EV Powertrain Types Differ Between USA and the Rest of the World?</vt:lpstr>
      <vt:lpstr>PowerPoint Presentation</vt:lpstr>
      <vt:lpstr>Which Powertrain Types Dominate the EV Landscape Globally?</vt:lpstr>
      <vt:lpstr>Which EV Vehicle Types Are Growing the Fastest Over Time?</vt:lpstr>
      <vt:lpstr>Where Is EV Adoption Highest Around the World?</vt:lpstr>
      <vt:lpstr>Is EV Adoption Effectively Reducing Oil Dependence?</vt:lpstr>
      <vt:lpstr>Conclusion</vt:lpstr>
      <vt:lpstr>Roles &amp; Tools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Karthika Ganjilenka</dc:creator>
  <cp:lastModifiedBy>Karthika Ganjilenka</cp:lastModifiedBy>
  <cp:revision>7</cp:revision>
  <dcterms:created xsi:type="dcterms:W3CDTF">2025-04-17T08:19:09Z</dcterms:created>
  <dcterms:modified xsi:type="dcterms:W3CDTF">2025-04-21T01:05:43Z</dcterms:modified>
</cp:coreProperties>
</file>